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5" d="100"/>
          <a:sy n="175" d="100"/>
        </p:scale>
        <p:origin x="3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39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프로젝트 개요 (권장 2분)】
● 문제 정의 (30초)
  '왜 이 프로젝트를 했는가'를 비즈니스 임팩트와 함께 간결하게 설명하세요.
● 핵심 기능 (45초)
  Agent 구성 흐름과 핵심 기술 스택을 한눈에 보이도록 서술하세요.
● 핵심 성과 (30초)
  실제 측정된 수치로 채우세요. 추정치는 '~' 를 붙이세요.
● Key Message (15초)
  심사위원이 하나만 기억한다면 이 문장이어야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기술 아키텍처 (권장 4분)】
● 다이어그램 (2분)
  - 시스템 전체 흐름이 한눈에 보여야 합니다
  - 사용자 입력 → 처리 → 결과 흐름을 화살표로 표시하세요
  - 컴포넌트 이름은 실제 기술명 사용 (예: LangGraph, Pinecone, GPT-4)
● 기술 선택 이유 (2분)
  - 심사위원은 LangGraph, LangChain을 '기본'으로 간주합니다
  - '기본입니다'가 아닌, 왜 이 기술이 필요했는지를 설명하세요
  - MCP, ToT, Self-Correction 등 고급 기술 사용 시 그 이유를 명확히 하세요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핵심 기술 과제 (권장 4분)】
● 핵심 기술 난제 (1분)
  - '왜 단순 구현으로 안 되는가'를 먼저 설명하세요
  - 심사위원은 단순 RAG / ReAct를 기본으로 봅니다. 그 한계를 명확히 제시하세요
● 엔지니어링 접근 (2분)
  - Agent의 '생각(로그)'이 고수준임을 증명해야 합니다
  - 시연 시 단순 Tool Call이 아닌 Planning / Self-Correction 로그를 보여주세요
  - 참고 논문 / 기술이 있다면 언급하면 고득점 포인트가 됩니다
● 결과 (1분)
  - 반드시 수치로 증명하세요
  - 직접 측정이 어려운 경우 '이전 대비' 상대 수치 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 Project 3기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931920" y="2633472"/>
            <a:ext cx="128016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2852928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300" b="1">
                <a:solidFill>
                  <a:srgbClr val="1A1A1A"/>
                </a:solidFill>
                <a:latin typeface="Arial"/>
              </a:rPr>
              <a:t>과제명  </a:t>
            </a:r>
            <a:r>
              <a:rPr sz="1100" b="0">
                <a:solidFill>
                  <a:srgbClr val="666666"/>
                </a:solidFill>
                <a:latin typeface="Arial"/>
              </a:rPr>
              <a:t>Code Test Agent — LLM 기반 JUnit 테스트 자동 생성·유지보수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3236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   티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[성명], [사번]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36210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   토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[성명1], [성명2]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영상 10분 이내  |  시연 영상 별도 제출 5분 이내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2분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181051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667512"/>
            <a:ext cx="54864" cy="181051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758952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문제 정의 (Vision / Problem)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" y="1051560"/>
            <a:ext cx="4416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>
                <a:solidFill>
                  <a:srgbClr val="333333"/>
                </a:solidFill>
                <a:latin typeface="Arial"/>
              </a:rPr>
              <a:t>어떤 문제를 해결하고자 했는가?</a:t>
            </a:r>
            <a:endParaRPr lang="en-US" sz="900" dirty="0"/>
          </a:p>
          <a:p>
            <a:r>
              <a:rPr sz="900" b="0">
                <a:solidFill>
                  <a:srgbClr val="666666"/>
                </a:solidFill>
                <a:latin typeface="Arial"/>
              </a:rPr>
              <a:t>Java 코드를 고칠 때마다 JUnit 테스트를 사람이 따라 고쳐야 하고, LLM에 통째로 맡기면 기존 테스트의 기대값을 몰래 고쳐 '통과'시키거나 리팩터링으로 바뀐 동작을 덮는 문제를 해결합니다.</a:t>
            </a:r>
          </a:p>
          <a:p>
            <a:r>
              <a:rPr sz="400" b="0">
                <a:solidFill>
                  <a:srgbClr val="666666"/>
                </a:solidFill>
                <a:latin typeface="Arial"/>
              </a:rPr>
              <a:t> 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왜 이 문제가 중요한가? (비즈니스 임팩트)</a:t>
            </a:r>
          </a:p>
          <a:p>
            <a:r>
              <a:rPr sz="900" b="0">
                <a:solidFill>
                  <a:srgbClr val="666666"/>
                </a:solidFill>
                <a:latin typeface="Arial"/>
              </a:rPr>
              <a:t>테스트가 코드를 못 따라가면 회귀 버그가 배포까지 새고, 잘못 고쳐진 테스트는 버그를 '정상'으로 고정합니다. 리뷰어가 매번 테스트 diff까지 검증하는 비용이 커밋마다 반복됩니다.</a:t>
            </a:r>
          </a:p>
        </p:txBody>
      </p:sp>
      <p:sp>
        <p:nvSpPr>
          <p:cNvPr id="13" name="Shape 11"/>
          <p:cNvSpPr/>
          <p:nvPr/>
        </p:nvSpPr>
        <p:spPr>
          <a:xfrm>
            <a:off x="256032" y="2569464"/>
            <a:ext cx="4617720" cy="2368296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569464"/>
            <a:ext cx="54864" cy="23682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2660904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핵심 기능 (Core Features)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" y="2953512"/>
            <a:ext cx="441655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>
                <a:solidFill>
                  <a:srgbClr val="333333"/>
                </a:solidFill>
                <a:latin typeface="Arial"/>
              </a:rPr>
              <a:t>무엇을 만들었는가?</a:t>
            </a:r>
            <a:endParaRPr lang="en-US" sz="900" dirty="0"/>
          </a:p>
          <a:p>
            <a:r>
              <a:rPr sz="900" b="0">
                <a:solidFill>
                  <a:srgbClr val="666666"/>
                </a:solidFill>
                <a:latin typeface="Arial"/>
              </a:rPr>
              <a:t>cta CLI — git diff의 변경 의도를 판단해 회귀 테스트를 만들고, 리팩터링으로 깨진 테스트는 사람에게 넘기며, 코드 그래프로 호출자까지 시험 범위에 넣는 에이전트</a:t>
            </a:r>
          </a:p>
          <a:p>
            <a:r>
              <a:rPr sz="400" b="0">
                <a:solidFill>
                  <a:srgbClr val="666666"/>
                </a:solidFill>
                <a:latin typeface="Arial"/>
              </a:rPr>
              <a:t> 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에이전트 구성:</a:t>
            </a:r>
          </a:p>
          <a:p>
            <a:r>
              <a:rPr sz="900" b="0">
                <a:solidFill>
                  <a:srgbClr val="666666"/>
                </a:solidFill>
                <a:latin typeface="Arial"/>
              </a:rPr>
              <a:t>test-lead [계획·위임·판정] → explorer [코드 그래프 조사] → writer [작성·실행 반복] → diagnoser [실패 원인 진단]  /  규칙 테이블·게이트 6종은 LLM 없는 일반 코드</a:t>
            </a:r>
          </a:p>
          <a:p>
            <a:r>
              <a:rPr sz="400" b="0">
                <a:solidFill>
                  <a:srgbClr val="666666"/>
                </a:solidFill>
                <a:latin typeface="Arial"/>
              </a:rPr>
              <a:t> 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핵심 기술 스택:</a:t>
            </a:r>
          </a:p>
          <a:p>
            <a:r>
              <a:rPr sz="900" b="0">
                <a:solidFill>
                  <a:srgbClr val="666666"/>
                </a:solidFill>
                <a:latin typeface="Arial"/>
              </a:rPr>
              <a:t>LangGraph · Deep Agents(LangChain) · Azure OpenAI 호환 사내 게이트웨이(gpt-5, text-embedding-3-small) · Neo4j 코드 그래프(GraphRAG) · JaCoCo · PIT · Maven / JUnit 5</a:t>
            </a:r>
          </a:p>
        </p:txBody>
      </p:sp>
      <p:sp>
        <p:nvSpPr>
          <p:cNvPr id="17" name="Text 15"/>
          <p:cNvSpPr/>
          <p:nvPr/>
        </p:nvSpPr>
        <p:spPr>
          <a:xfrm>
            <a:off x="5056632" y="66751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성과 (Key Achievements)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56632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1A365D"/>
                </a:solidFill>
                <a:latin typeface="Arial"/>
              </a:rPr>
              <a:t>100% / 100%</a:t>
            </a:r>
            <a:endParaRPr lang="en-US" dirty="0"/>
          </a:p>
          <a:p>
            <a:r>
              <a:rPr sz="800" b="0">
                <a:solidFill>
                  <a:srgbClr val="666666"/>
                </a:solidFill>
                <a:latin typeface="Arial"/>
              </a:rPr>
              <a:t>생성 테스트 라인·브랜치 커버리지 (게이트 기준 80/70, JaCoCo 실측)</a:t>
            </a:r>
          </a:p>
        </p:txBody>
      </p:sp>
      <p:sp>
        <p:nvSpPr>
          <p:cNvPr id="20" name="Shape 18"/>
          <p:cNvSpPr/>
          <p:nvPr/>
        </p:nvSpPr>
        <p:spPr>
          <a:xfrm>
            <a:off x="7027164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2884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1A365D"/>
                </a:solidFill>
                <a:latin typeface="Arial"/>
              </a:rPr>
              <a:t>83.3%</a:t>
            </a:r>
            <a:endParaRPr lang="en-US" dirty="0"/>
          </a:p>
          <a:p>
            <a:r>
              <a:rPr sz="800" b="0">
                <a:solidFill>
                  <a:srgbClr val="666666"/>
                </a:solidFill>
                <a:latin typeface="Arial"/>
              </a:rPr>
              <a:t>결함 세트 12건 검출률 · 게이트 통과 12/12 · 평균 시도 1.0회</a:t>
            </a:r>
          </a:p>
        </p:txBody>
      </p:sp>
      <p:sp>
        <p:nvSpPr>
          <p:cNvPr id="22" name="Shape 20"/>
          <p:cNvSpPr/>
          <p:nvPr/>
        </p:nvSpPr>
        <p:spPr>
          <a:xfrm>
            <a:off x="5056632" y="1874520"/>
            <a:ext cx="3831336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1920240"/>
            <a:ext cx="3648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1A365D"/>
                </a:solidFill>
                <a:latin typeface="Arial"/>
              </a:rPr>
              <a:t>76% 절감</a:t>
            </a:r>
            <a:endParaRPr lang="en-US" dirty="0"/>
          </a:p>
          <a:p>
            <a:r>
              <a:rPr sz="800" b="0">
                <a:solidFill>
                  <a:srgbClr val="666666"/>
                </a:solidFill>
                <a:latin typeface="Arial"/>
              </a:rPr>
              <a:t>테스트 1건 생성 비용 20,969 → 5,128 토큰, 2분 37초 → 32초. 의도 분류 정확도 100%(잘못된 '의도 모름' 0건)는 절감 후에도 동일</a:t>
            </a:r>
          </a:p>
        </p:txBody>
      </p:sp>
      <p:sp>
        <p:nvSpPr>
          <p:cNvPr id="24" name="Shape 22"/>
          <p:cNvSpPr/>
          <p:nvPr/>
        </p:nvSpPr>
        <p:spPr>
          <a:xfrm>
            <a:off x="5056632" y="2788920"/>
            <a:ext cx="3831336" cy="21488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907792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93792" y="3172968"/>
            <a:ext cx="3557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950" b="0">
                <a:solidFill>
                  <a:srgbClr val="FFFFFF"/>
                </a:solidFill>
                <a:latin typeface="Arial"/>
              </a:rPr>
              <a:t>"LLM은 판단과 작성 두 곳에만 쓰고 가드레일은 전부 코드로 두어, 기대값을 몰래 고치는 사고 0건으로 회귀 테스트 작성을 자동화했습니다."</a:t>
            </a:r>
            <a:endParaRPr lang="en-US" sz="950" dirty="0"/>
          </a:p>
          <a:p>
            <a:r>
              <a:rPr sz="400" b="0">
                <a:solidFill>
                  <a:srgbClr val="FFFFFF"/>
                </a:solidFill>
                <a:latin typeface="Arial"/>
              </a:rPr>
              <a:t> </a:t>
            </a:r>
          </a:p>
          <a:p>
            <a:r>
              <a:rPr sz="850" b="0">
                <a:solidFill>
                  <a:srgbClr val="CCCCCC"/>
                </a:solidFill>
                <a:latin typeface="Arial"/>
              </a:rPr>
              <a:t>실호출 실측: 커버리지 100/100 · 결함 검출 83.3% · 의도 분류 100% · 비용 76% 절감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4270248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</p:sp>
      <p:sp>
        <p:nvSpPr>
          <p:cNvPr id="11" name="Text 9"/>
          <p:cNvSpPr/>
          <p:nvPr/>
        </p:nvSpPr>
        <p:spPr>
          <a:xfrm>
            <a:off x="5056632" y="667512"/>
            <a:ext cx="3831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 고려 사항 </a:t>
            </a:r>
            <a:br>
              <a:rPr lang="en-US" altLang="ko-KR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구성에 대한 핵심 결정 사항을 중심으로 설명하세요 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56632" y="1005840"/>
            <a:ext cx="3831336" cy="1249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6632" y="1005840"/>
            <a:ext cx="54864" cy="12496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95544" y="109728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 b="1">
                <a:solidFill>
                  <a:srgbClr val="1A365D"/>
                </a:solidFill>
                <a:latin typeface="Arial"/>
              </a:rPr>
              <a:t>Deep Agents + LangGraph — 메인 1 + 서브 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84648" y="139903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50" b="1">
                <a:solidFill>
                  <a:srgbClr val="333333"/>
                </a:solidFill>
                <a:latin typeface="Arial"/>
              </a:rPr>
              <a:t>선택 이유:</a:t>
            </a:r>
            <a:endParaRPr lang="en-US" sz="850" dirty="0"/>
          </a:p>
          <a:p>
            <a:r>
              <a:rPr sz="800" b="0">
                <a:solidFill>
                  <a:srgbClr val="666666"/>
                </a:solidFill>
                <a:latin typeface="Arial"/>
              </a:rPr>
              <a:t>단일 ReAct 루프는 조사·작성·진단이 한 컨텍스트에 섞여 같은 실패를 반복. 역할별 서브에이전트에 task()로 위임하고 메인은 판정만 담당</a:t>
            </a:r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>핵심 활용:</a:t>
            </a:r>
          </a:p>
          <a:p>
            <a:r>
              <a:rPr sz="800" b="0">
                <a:solidFill>
                  <a:srgbClr val="666666"/>
                </a:solidFill>
                <a:latin typeface="Arial"/>
              </a:rPr>
              <a:t>하네스 미들웨어 — FilesystemPermission(write deny) + 툴 숨김, RunLedger(시도 ≤8·같은 실패 2회 감지), recursion_limit 400, record/replay</a:t>
            </a:r>
          </a:p>
        </p:txBody>
      </p:sp>
      <p:sp>
        <p:nvSpPr>
          <p:cNvPr id="18" name="Shape 16"/>
          <p:cNvSpPr/>
          <p:nvPr/>
        </p:nvSpPr>
        <p:spPr>
          <a:xfrm>
            <a:off x="5056632" y="2346960"/>
            <a:ext cx="3831336" cy="1249680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6632" y="2346960"/>
            <a:ext cx="54864" cy="12496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95544" y="243840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 b="1">
                <a:solidFill>
                  <a:srgbClr val="1A365D"/>
                </a:solidFill>
                <a:latin typeface="Arial"/>
              </a:rPr>
              <a:t>GraphRAG — Neo4j 코드 그래프 + 임베딩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184648" y="274015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50" b="1">
                <a:solidFill>
                  <a:srgbClr val="333333"/>
                </a:solidFill>
                <a:latin typeface="Arial"/>
              </a:rPr>
              <a:t>선택 이유:</a:t>
            </a:r>
            <a:endParaRPr lang="en-US" sz="850" dirty="0"/>
          </a:p>
          <a:p>
            <a:r>
              <a:rPr sz="800" b="0">
                <a:solidFill>
                  <a:srgbClr val="666666"/>
                </a:solidFill>
                <a:latin typeface="Arial"/>
              </a:rPr>
              <a:t>코드 청크 임베딩은 '닮은 코드'를 찾을 뿐 호출 관계를 못 찾음. 구조 질의는 그래프(DECLARES·CREATES·COVERS 실측·CALLS 추정), 임베딩은 판단 메모(자연어)에만</a:t>
            </a:r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>핵심 성과:</a:t>
            </a:r>
          </a:p>
          <a:p>
            <a:r>
              <a:rPr sz="800" b="0">
                <a:solidFill>
                  <a:srgbClr val="666666"/>
                </a:solidFill>
                <a:latin typeface="Arial"/>
              </a:rPr>
              <a:t>호출자 검출 4/4(high), 다른 이름의 유사 상황 메모 검색 성공. 규칙 테이블 입력은 실측(COVERS)만</a:t>
            </a:r>
          </a:p>
        </p:txBody>
      </p:sp>
      <p:sp>
        <p:nvSpPr>
          <p:cNvPr id="24" name="Shape 22"/>
          <p:cNvSpPr/>
          <p:nvPr/>
        </p:nvSpPr>
        <p:spPr>
          <a:xfrm>
            <a:off x="5056632" y="3688080"/>
            <a:ext cx="3831336" cy="124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56632" y="3688080"/>
            <a:ext cx="54864" cy="124968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95544" y="377952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950" b="1">
                <a:solidFill>
                  <a:srgbClr val="1A365D"/>
                </a:solidFill>
                <a:latin typeface="Arial"/>
              </a:rPr>
              <a:t>가드레일 + Skill — 규칙 테이블 · 게이트 6종 · SKILL.md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84648" y="408127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50" b="1">
                <a:solidFill>
                  <a:srgbClr val="333333"/>
                </a:solidFill>
                <a:latin typeface="Arial"/>
              </a:rPr>
              <a:t>선택 이유:</a:t>
            </a:r>
            <a:endParaRPr lang="en-US" sz="850" dirty="0"/>
          </a:p>
          <a:p>
            <a:r>
              <a:rPr sz="800" b="0">
                <a:solidFill>
                  <a:srgbClr val="666666"/>
                </a:solidFill>
                <a:latin typeface="Arial"/>
              </a:rPr>
              <a:t>LLM이 '통과'시키는 가장 쉬운 길은 assert 완화·스킵·대상 코드 수정. 판정을 LLM에 맡기지 않고 JaCoCo·PIT 실측과 결정적 규칙으로 차단</a:t>
            </a:r>
          </a:p>
          <a:p>
            <a:r>
              <a:rPr sz="850" b="1">
                <a:solidFill>
                  <a:srgbClr val="333333"/>
                </a:solidFill>
                <a:latin typeface="Arial"/>
              </a:rPr>
              <a:t>구현 포인트:</a:t>
            </a:r>
          </a:p>
          <a:p>
            <a:r>
              <a:rPr sz="800" b="0">
                <a:solidFill>
                  <a:srgbClr val="666666"/>
                </a:solidFill>
                <a:latin typeface="Arial"/>
              </a:rPr>
              <a:t>탈락 사유를 프롬프트에 되돌리는 Self-Correction 루프(≤3회). 작성 지식은 SKILL.md로 분리, 규칙 기반 선택(replay 호환)</a:t>
            </a:r>
          </a:p>
        </p:txBody>
      </p:sp>
      <p:pic>
        <p:nvPicPr>
          <p:cNvPr id="30" name="Picture 29" descr="1-agent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51560"/>
            <a:ext cx="4434840" cy="247981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47472" y="3641103"/>
            <a:ext cx="4434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33333"/>
                </a:solidFill>
                <a:latin typeface="Arial"/>
              </a:rPr>
              <a:t>데이터 흐름</a:t>
            </a:r>
          </a:p>
          <a:p>
            <a:r>
              <a:rPr sz="800" b="0">
                <a:solidFill>
                  <a:srgbClr val="666666"/>
                </a:solidFill>
                <a:latin typeface="Arial"/>
              </a:rPr>
              <a:t>사용자 → cta CLI(argparse) → Deep Agent(메인 test-lead + explorer·writer·diagnoser, 툴 6개) → Azure OpenAI 호환 게이트웨이(gpt-5) → 게이트 6종(JaCoCo·PIT 실측) → 제안(.cta/proposals) → cta apply</a:t>
            </a:r>
          </a:p>
          <a:p>
            <a:r>
              <a:rPr sz="800" b="0">
                <a:solidFill>
                  <a:srgbClr val="666666"/>
                </a:solidFill>
                <a:latin typeface="Arial"/>
              </a:rPr>
              <a:t>코드 그래프(Neo4j, 없으면 인메모리) · 판단 메모(text-embedding-3-small) · 실행 장치(로컬 Maven / Docker). 모든 LLM 호출은 record/replay 가능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과제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8631936" cy="98755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758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난제 (Hurdle)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033272"/>
            <a:ext cx="8302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50" b="0">
                <a:solidFill>
                  <a:srgbClr val="FFFFFF"/>
                </a:solidFill>
                <a:latin typeface="Arial"/>
              </a:rPr>
              <a:t>LLM이 테스트를 '통과'시키는 가장 쉬운 길은 기존 assert를 느슨하게 고치거나 스킵하는 것입니다. 실제로 assertEquals → assertNotNull 완화 시도가 관찰됐습니다.</a:t>
            </a:r>
            <a:endParaRPr lang="en-US" sz="1000" dirty="0"/>
          </a:p>
          <a:p>
            <a:r>
              <a:rPr sz="850" b="0">
                <a:solidFill>
                  <a:srgbClr val="CCCCCC"/>
                </a:solidFill>
                <a:latin typeface="Arial"/>
              </a:rPr>
              <a:t>리팩터링으로 동작이 바뀐 사실을 모델이 기대값 갱신으로 덮으면 버그가 '정상'으로 고정됩니다. 판정을 LLM에 맡기는 한 프롬프트로는 해결되지 않습니다.</a:t>
            </a:r>
          </a:p>
        </p:txBody>
      </p:sp>
      <p:sp>
        <p:nvSpPr>
          <p:cNvPr id="12" name="Shape 10"/>
          <p:cNvSpPr/>
          <p:nvPr/>
        </p:nvSpPr>
        <p:spPr>
          <a:xfrm>
            <a:off x="256032" y="1764792"/>
            <a:ext cx="4620768" cy="3172968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764792"/>
            <a:ext cx="54864" cy="3172968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856232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 접근 방법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167128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>
                <a:solidFill>
                  <a:srgbClr val="333333"/>
                </a:solidFill>
                <a:latin typeface="Arial"/>
              </a:rPr>
              <a:t>어떻게 해결했는가? (설계 결정)</a:t>
            </a:r>
            <a:endParaRPr lang="en-US" sz="900" dirty="0"/>
          </a:p>
          <a:p>
            <a:r>
              <a:rPr sz="850" b="0">
                <a:solidFill>
                  <a:srgbClr val="666666"/>
                </a:solidFill>
                <a:latin typeface="Arial"/>
              </a:rPr>
              <a:t>길과 내용을 분리했습니다. 조치의 길은 (의도 × 기존 테스트 상태) 규칙 테이블이 딕셔너리 조회로 정하고, LLM 분석은 작업 지침서 내용에만 들어갑니다. 규칙 테이블에 '기대값 자동 갱신' 행 자체가 없습니다.</a:t>
            </a:r>
          </a:p>
          <a:p>
            <a:r>
              <a:rPr sz="500" b="0">
                <a:solidFill>
                  <a:srgbClr val="666666"/>
                </a:solidFill>
                <a:latin typeface="Arial"/>
              </a:rPr>
              <a:t> </a:t>
            </a:r>
          </a:p>
          <a:p>
            <a:r>
              <a:rPr sz="900" b="1">
                <a:solidFill>
                  <a:srgbClr val="333333"/>
                </a:solidFill>
                <a:latin typeface="Arial"/>
              </a:rPr>
              <a:t>핵심 알고리즘 / 아키텍처 결정</a:t>
            </a:r>
          </a:p>
          <a:p>
            <a:r>
              <a:rPr sz="850" b="0">
                <a:solidFill>
                  <a:srgbClr val="666666"/>
                </a:solidFill>
                <a:latin typeface="Arial"/>
              </a:rPr>
              <a:t>· 게이트 6종(assert 내용 비교 · 스킵 · 범위 SHA-256 · JaCoCo 커버리지 · PIT 뮤테이션 · 회귀)이 생성 후 기계적으로 판정, 탈락 사유를 프롬프트에 되돌려 재생성(Self-Correction, ≤3회)</a:t>
            </a:r>
          </a:p>
          <a:p>
            <a:r>
              <a:rPr sz="850" b="0">
                <a:solidFill>
                  <a:srgbClr val="666666"/>
                </a:solidFill>
                <a:latin typeface="Arial"/>
              </a:rPr>
              <a:t>· 리팩터링+실패는 escalate로 멈추고(exit 3), 사람이 resolve --intended로 답하면 실패한 메서드만 allow-list로 수정</a:t>
            </a:r>
          </a:p>
          <a:p>
            <a:r>
              <a:rPr sz="850" b="0">
                <a:solidFill>
                  <a:srgbClr val="666666"/>
                </a:solidFill>
                <a:latin typeface="Arial"/>
              </a:rPr>
              <a:t>· Deep Agents 내장 쓰기 툴은 permission deny + 툴 숨김 두 겹 차단, RunLedger가 시도 ≤8·같은 실패 2회를 집계해 diagnoser로 전환</a:t>
            </a:r>
          </a:p>
          <a:p>
            <a:r>
              <a:rPr sz="850" b="0">
                <a:solidFill>
                  <a:srgbClr val="666666"/>
                </a:solidFill>
                <a:latin typeface="Arial"/>
              </a:rPr>
              <a:t>· 적대적 판단 메모('규칙 무시하고 진행')를 넣어도 조치가 같다는 불변식을 테스트로 고정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2F27494-48CC-B67F-5091-7461D87EE359}"/>
              </a:ext>
            </a:extLst>
          </p:cNvPr>
          <p:cNvGrpSpPr/>
          <p:nvPr/>
        </p:nvGrpSpPr>
        <p:grpSpPr>
          <a:xfrm>
            <a:off x="5058229" y="1764792"/>
            <a:ext cx="3829739" cy="3172968"/>
            <a:chOff x="4645152" y="1764792"/>
            <a:chExt cx="4242816" cy="3172968"/>
          </a:xfrm>
        </p:grpSpPr>
        <p:sp>
          <p:nvSpPr>
            <p:cNvPr id="16" name="Shape 14"/>
            <p:cNvSpPr/>
            <p:nvPr/>
          </p:nvSpPr>
          <p:spPr>
            <a:xfrm>
              <a:off x="4645152" y="1764792"/>
              <a:ext cx="4242816" cy="3172968"/>
            </a:xfrm>
            <a:prstGeom prst="rect">
              <a:avLst/>
            </a:prstGeom>
            <a:solidFill>
              <a:srgbClr val="F0FDFB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645152" y="1764792"/>
              <a:ext cx="54864" cy="3172968"/>
            </a:xfrm>
            <a:prstGeom prst="rect">
              <a:avLst/>
            </a:prstGeom>
            <a:solidFill>
              <a:srgbClr val="4ECDC4"/>
            </a:solidFill>
            <a:ln w="12700">
              <a:solidFill>
                <a:srgbClr val="4ECDC4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764024" y="1856232"/>
              <a:ext cx="404164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BB8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결과 및 성과 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</a:t>
              </a:r>
              <a:r>
                <a:rPr lang="en-US" sz="1000" b="1" dirty="0" err="1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수치로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제시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4773168" y="2194560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828032" y="2194560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sz="2000" b="1">
                  <a:solidFill>
                    <a:srgbClr val="1A365D"/>
                  </a:solidFill>
                  <a:latin typeface="Arial"/>
                </a:rPr>
                <a:t>0건</a:t>
              </a:r>
              <a:endParaRPr lang="en-US" sz="18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696712" y="2373600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797296" y="2249424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900" b="1">
                  <a:solidFill>
                    <a:srgbClr val="333333"/>
                  </a:solidFill>
                  <a:latin typeface="Arial"/>
                </a:rPr>
                <a:t>기존 assert 훼손 · 스킵 · 범위 밖 수정</a:t>
              </a:r>
              <a:endParaRPr lang="en-US" sz="850" dirty="0"/>
            </a:p>
            <a:p>
              <a:r>
                <a:rPr sz="800" b="0">
                  <a:solidFill>
                    <a:srgbClr val="666666"/>
                  </a:solidFill>
                  <a:latin typeface="Arial"/>
                </a:rPr>
                <a:t>실호출 전 시나리오(generate·maintain·--impact·resolve) 합계. 완화 시도는 assert 게이트가 차단</a:t>
              </a:r>
            </a:p>
          </p:txBody>
        </p:sp>
        <p:sp>
          <p:nvSpPr>
            <p:cNvPr id="23" name="Shape 21"/>
            <p:cNvSpPr/>
            <p:nvPr/>
          </p:nvSpPr>
          <p:spPr>
            <a:xfrm>
              <a:off x="4773168" y="3090672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828032" y="3090672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sz="2000" b="1">
                  <a:solidFill>
                    <a:srgbClr val="1A365D"/>
                  </a:solidFill>
                  <a:latin typeface="Arial"/>
                </a:rPr>
                <a:t>83.3%</a:t>
              </a:r>
              <a:endParaRPr lang="en-US" sz="18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696712" y="3269712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797296" y="3145536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900" b="1">
                  <a:solidFill>
                    <a:srgbClr val="333333"/>
                  </a:solidFill>
                  <a:latin typeface="Arial"/>
                </a:rPr>
                <a:t>결함 세트 12건 검출률</a:t>
              </a:r>
              <a:endParaRPr lang="en-US" sz="850" dirty="0"/>
            </a:p>
            <a:p>
              <a:r>
                <a:rPr sz="800" b="0">
                  <a:solidFill>
                    <a:srgbClr val="666666"/>
                  </a:solidFill>
                  <a:latin typeface="Arial"/>
                </a:rPr>
                <a:t>게이트 통과 12/12 · escalation 0 · 평균 시도 1.0회 · 의도 분류 10/10, 잘못된 '의도 모름' 0건</a:t>
              </a:r>
            </a:p>
          </p:txBody>
        </p:sp>
        <p:sp>
          <p:nvSpPr>
            <p:cNvPr id="27" name="Shape 25"/>
            <p:cNvSpPr/>
            <p:nvPr/>
          </p:nvSpPr>
          <p:spPr>
            <a:xfrm>
              <a:off x="4773168" y="3986784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4828032" y="3986784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sz="2000" b="1">
                  <a:solidFill>
                    <a:srgbClr val="1A365D"/>
                  </a:solidFill>
                  <a:latin typeface="Arial"/>
                </a:rPr>
                <a:t>76%↓</a:t>
              </a:r>
              <a:endParaRPr lang="en-US" sz="18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696712" y="4165824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5797296" y="4041648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sz="900" b="1">
                  <a:solidFill>
                    <a:srgbClr val="333333"/>
                  </a:solidFill>
                  <a:latin typeface="Arial"/>
                </a:rPr>
                <a:t>테스트 생성 토큰 20,969 → 5,128</a:t>
              </a:r>
              <a:endParaRPr lang="en-US" sz="850" dirty="0"/>
            </a:p>
            <a:p>
              <a:r>
                <a:rPr sz="800" b="0">
                  <a:solidFill>
                    <a:srgbClr val="666666"/>
                  </a:solidFill>
                  <a:latin typeface="Arial"/>
                </a:rPr>
                <a:t>시간 2분 37초 → 32초. 커버리지 탈락 재생성 3회 → 1회(탈락 사유에 미실행 줄 원문 첨부)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928</Words>
  <Application>Microsoft Macintosh PowerPoint</Application>
  <PresentationFormat>화면 슬라이드 쇼(16:9)</PresentationFormat>
  <Paragraphs>102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Master Project 발표 자료 템플릿 v1.0</dc:title>
  <dc:subject>PptxGenJS Presentation</dc:subject>
  <dc:creator>PptxGenJS</dc:creator>
  <cp:lastModifiedBy>07457</cp:lastModifiedBy>
  <cp:revision>4</cp:revision>
  <dcterms:created xsi:type="dcterms:W3CDTF">2026-03-16T07:29:48Z</dcterms:created>
  <dcterms:modified xsi:type="dcterms:W3CDTF">2026-03-16T08:12:05Z</dcterms:modified>
</cp:coreProperties>
</file>